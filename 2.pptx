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7BE90-AD38-F8E5-FAC8-4BD4A784B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1C2AFD-293A-F1F9-CA50-D02A7E0FF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1040A7-06E5-8273-45BB-E1126B102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2223F-74B3-D0A2-3721-B7891DF1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790D20-5D47-52D5-8102-3EA04487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32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A0D895-34CF-14B7-83EB-9CDBA953D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2A85D0-A1FD-D76B-CBAE-3487A920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2C479-DC5A-FC08-8068-F8E51C6FA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19B03-41B7-C549-F24E-641CBFCB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B6449-2731-42D7-BBD6-969DBDD3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9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287DF-0C51-4C48-488D-C2411AC2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1C97B-2260-4FE1-E4E6-C9F884B5E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77803-C655-922C-836A-12166AC5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2AF86F-E05B-EC1A-1168-D6B56951D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6C0E04-B822-F9D1-B503-491F27CC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9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0CD9D-BEBF-0083-D3A4-9267AE33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9385F6-14D1-0C9D-4823-FD935581FD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B9F691-48B3-362B-8C4A-F1AADF1F4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DAEFD7-FEE3-6D2A-4D8E-0BA47FC74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417CA9-4D43-9C2E-8647-4BA32A43D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431A26-B719-AB60-C723-C3C25114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93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4D210-7838-BBE8-1A27-90041E11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08EA79-C9F0-14E5-A92E-9686DBEB5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504161-9D30-9EF2-6468-D7914EC88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5F5119B-92F9-251A-50F5-E6FA352492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8AFFF5-65B4-04C5-872E-03921B5A5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8ADD89-EFAA-9EF0-02BE-E78141C2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25FF45-60D8-259C-0EA7-51F6090C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D09290-9FF5-1DE6-D24E-554B6301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0210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255BD-7C07-5134-F99E-DA0E497E0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0E057A-AC97-DDE7-F0C8-1BD3B6DE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D8057B-4760-6D42-363A-29311B3B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DAB97D4-1ACC-0DF7-CD14-FB20C1C9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82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2C1260-967E-DEEB-B80D-AB97A7CED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6A0B1D-00C8-6D69-098A-22002B07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EB4E8-1F4D-243F-100F-9F577921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54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1FC4D-F5BA-4AEC-582B-F54CEE49B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CBDFB-DB47-4631-1E1E-5CB311AC9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43554C-557C-ED20-D5F5-2390E1E956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A37FF3-2633-8A12-3C52-D4D524804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A7B332-DAAA-A754-F5DC-D735E586D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47B912-4C07-5248-3FE3-7D4C356E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34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CC724-2DAA-A407-557A-99E87BFAC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A33BDB-51DB-E093-DE92-C37207D6FC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4883BD-6849-168E-E2F2-3E6122689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824F15-1D39-F6A6-E469-C0600F4A3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2D3871-6E47-2777-0D18-89D21A80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0049C4-A052-CFF7-11D2-9D5F499D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78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ED1E3-B8C8-346B-D4CC-DCFADA9E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90C694-CF29-1082-258A-FD779BF92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549794-A506-8FA2-A87D-D879AC278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09653-3853-D4B7-4032-AF39FAEE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D554D-791C-1867-B97F-CDA119251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927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B7EDC0-394A-9324-67A8-B96206997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19D2D6-1AF9-41DC-70A1-E83135C9A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6D17B-937A-5442-20BE-8F59697C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728F0-B1B9-8A82-9C4D-697542E0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FBF50E-DB5E-3E1A-A110-AEC8737C0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54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7E66A4-0F06-B4B8-A4C7-09596447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FC9AF6-3A63-5F9C-F0B1-623876544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913C0E-7EBD-9003-536C-CACA601C0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9BACE-9ABF-4AF7-949F-DA12A9CA984C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6DECB0-ABF1-649A-D504-FE19E67A1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B1F1C9-D703-1173-8EB5-C72E4DC9E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BEE1D-6FDF-49FB-8D1F-98B6A8417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00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23447C5-A3F3-7EE5-96C8-C6D56A2F7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254" y="97841"/>
            <a:ext cx="4667284" cy="4143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05CB908-47A2-F706-1406-8122E1F4ED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62" y="158933"/>
            <a:ext cx="7143802" cy="14859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B9B559C-A5B1-F502-BD9D-FE61FB5302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84" y="3368702"/>
            <a:ext cx="4724435" cy="6381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EEA3EF8-0CD0-0197-C9B1-1F15B9872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84" y="2169543"/>
            <a:ext cx="2390973" cy="48356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A866ED-4DE9-717F-296D-840BF28504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083" y="4632508"/>
            <a:ext cx="3727131" cy="83088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7D9159B-0AF5-3BE0-388A-FA18F399C0CF}"/>
              </a:ext>
            </a:extLst>
          </p:cNvPr>
          <p:cNvSpPr txBox="1"/>
          <p:nvPr/>
        </p:nvSpPr>
        <p:spPr>
          <a:xfrm>
            <a:off x="1002083" y="1568135"/>
            <a:ext cx="285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Bad LCG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9049A-1829-241B-8E88-721751085738}"/>
              </a:ext>
            </a:extLst>
          </p:cNvPr>
          <p:cNvSpPr txBox="1"/>
          <p:nvPr/>
        </p:nvSpPr>
        <p:spPr>
          <a:xfrm>
            <a:off x="1002082" y="2904549"/>
            <a:ext cx="44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Good LCG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525A6C-E3FB-4C4F-C83F-F2BD93B43821}"/>
              </a:ext>
            </a:extLst>
          </p:cNvPr>
          <p:cNvSpPr txBox="1"/>
          <p:nvPr/>
        </p:nvSpPr>
        <p:spPr>
          <a:xfrm>
            <a:off x="1002082" y="4088921"/>
            <a:ext cx="404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Mersenne Twister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D5EA60D-8DA2-1F68-E2B6-170F42F98F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8846" y="2188905"/>
            <a:ext cx="2570671" cy="44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7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24586E7-2E06-A184-16BC-D0DF691C8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715174" cy="26003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930512-1C2C-1110-3855-3A3DFC5EE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325" y="63261"/>
            <a:ext cx="5641675" cy="42862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F014941-EE42-88BF-EF29-A58E03BCD1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86" y="4178959"/>
            <a:ext cx="3671354" cy="6024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72F3663-C4C4-69E9-6DA0-6BFE47972E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0" y="3044058"/>
            <a:ext cx="5007820" cy="55969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7694E12-B2AF-A070-A25C-5E63240945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90" y="5356642"/>
            <a:ext cx="5155935" cy="10729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8D423FD-3556-A333-7E94-8CF46D9F904A}"/>
              </a:ext>
            </a:extLst>
          </p:cNvPr>
          <p:cNvSpPr txBox="1"/>
          <p:nvPr/>
        </p:nvSpPr>
        <p:spPr>
          <a:xfrm>
            <a:off x="1394390" y="2571790"/>
            <a:ext cx="285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Bad LCG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15352-C779-5B9A-F5F1-B97C87B22C32}"/>
              </a:ext>
            </a:extLst>
          </p:cNvPr>
          <p:cNvSpPr txBox="1"/>
          <p:nvPr/>
        </p:nvSpPr>
        <p:spPr>
          <a:xfrm>
            <a:off x="1394390" y="3706690"/>
            <a:ext cx="44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Good LCG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97D99-E407-3C6A-4EF1-FCB6ACFE6C81}"/>
              </a:ext>
            </a:extLst>
          </p:cNvPr>
          <p:cNvSpPr txBox="1"/>
          <p:nvPr/>
        </p:nvSpPr>
        <p:spPr>
          <a:xfrm>
            <a:off x="1336839" y="4884373"/>
            <a:ext cx="404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Mersenne Twister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DE1161-7156-F7EF-F80B-CD1C65C3FCAE}"/>
                  </a:ext>
                </a:extLst>
              </p:cNvPr>
              <p:cNvSpPr txBox="1"/>
              <p:nvPr/>
            </p:nvSpPr>
            <p:spPr>
              <a:xfrm>
                <a:off x="4400723" y="2146110"/>
                <a:ext cx="1526187" cy="5722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=0.00316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DE1161-7156-F7EF-F80B-CD1C65C3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0723" y="2146110"/>
                <a:ext cx="1526187" cy="5722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203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3858530-3197-7966-79D2-5A2B056C4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19950" cy="13716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43929CC-D4DB-3A68-AC4B-CF6B90024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58" y="2925690"/>
            <a:ext cx="5791242" cy="362905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103283-5818-5413-BCA6-F6BEDB2A15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" y="1963406"/>
            <a:ext cx="6229518" cy="3657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BEB859-EE90-EE63-36D9-C42E2D4EDF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" y="3085250"/>
            <a:ext cx="6304256" cy="42698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1E114EF-27A9-DB14-555B-CAD0E8BABD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1" y="4256262"/>
            <a:ext cx="6165011" cy="43218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59CF2F7-3B45-2564-55AD-50EFDEFF9B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0" y="176214"/>
            <a:ext cx="2971822" cy="239079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2DC69D3-4F2C-B864-B38F-C23508DE6EFC}"/>
              </a:ext>
            </a:extLst>
          </p:cNvPr>
          <p:cNvSpPr txBox="1"/>
          <p:nvPr/>
        </p:nvSpPr>
        <p:spPr>
          <a:xfrm>
            <a:off x="63261" y="1482842"/>
            <a:ext cx="2858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Bad LCG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89B158-E13F-788B-EEE8-FF0B909CA8E9}"/>
              </a:ext>
            </a:extLst>
          </p:cNvPr>
          <p:cNvSpPr txBox="1"/>
          <p:nvPr/>
        </p:nvSpPr>
        <p:spPr>
          <a:xfrm>
            <a:off x="63261" y="2516480"/>
            <a:ext cx="44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Good LCG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3FC4A0-4D13-D177-FBB1-0EA549C3F35E}"/>
              </a:ext>
            </a:extLst>
          </p:cNvPr>
          <p:cNvSpPr txBox="1"/>
          <p:nvPr/>
        </p:nvSpPr>
        <p:spPr>
          <a:xfrm>
            <a:off x="63261" y="3699580"/>
            <a:ext cx="4041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Mersenne Twister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846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5DD6ED0-0EAD-69C9-CE25-BC60E26B1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756"/>
            <a:ext cx="6981876" cy="2990872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3AF1058-280C-1455-FA97-4613B7613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244839"/>
              </p:ext>
            </p:extLst>
          </p:nvPr>
        </p:nvGraphicFramePr>
        <p:xfrm>
          <a:off x="135146" y="3049628"/>
          <a:ext cx="5483526" cy="223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7238">
                  <a:extLst>
                    <a:ext uri="{9D8B030D-6E8A-4147-A177-3AD203B41FA5}">
                      <a16:colId xmlns:a16="http://schemas.microsoft.com/office/drawing/2014/main" val="2453861015"/>
                    </a:ext>
                  </a:extLst>
                </a:gridCol>
                <a:gridCol w="949072">
                  <a:extLst>
                    <a:ext uri="{9D8B030D-6E8A-4147-A177-3AD203B41FA5}">
                      <a16:colId xmlns:a16="http://schemas.microsoft.com/office/drawing/2014/main" val="667482603"/>
                    </a:ext>
                  </a:extLst>
                </a:gridCol>
                <a:gridCol w="949072">
                  <a:extLst>
                    <a:ext uri="{9D8B030D-6E8A-4147-A177-3AD203B41FA5}">
                      <a16:colId xmlns:a16="http://schemas.microsoft.com/office/drawing/2014/main" val="3950520989"/>
                    </a:ext>
                  </a:extLst>
                </a:gridCol>
                <a:gridCol w="949072">
                  <a:extLst>
                    <a:ext uri="{9D8B030D-6E8A-4147-A177-3AD203B41FA5}">
                      <a16:colId xmlns:a16="http://schemas.microsoft.com/office/drawing/2014/main" val="4160391706"/>
                    </a:ext>
                  </a:extLst>
                </a:gridCol>
                <a:gridCol w="949072">
                  <a:extLst>
                    <a:ext uri="{9D8B030D-6E8A-4147-A177-3AD203B41FA5}">
                      <a16:colId xmlns:a16="http://schemas.microsoft.com/office/drawing/2014/main" val="2295205445"/>
                    </a:ext>
                  </a:extLst>
                </a:gridCol>
              </a:tblGrid>
              <a:tr h="56534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　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p-value</a:t>
                      </a:r>
                      <a:endParaRPr lang="ko-KR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corr</a:t>
                      </a:r>
                      <a:endParaRPr lang="ko-KR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runs test</a:t>
                      </a:r>
                      <a:endParaRPr lang="ko-KR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pass/fail</a:t>
                      </a:r>
                      <a:endParaRPr lang="ko-KR" sz="14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224119790"/>
                  </a:ext>
                </a:extLst>
              </a:tr>
              <a:tr h="5653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Bad LCG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0.01100…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0.2046…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60.6637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X/X/X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094665068"/>
                  </a:ext>
                </a:extLst>
              </a:tr>
              <a:tr h="552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Good LCG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0.7856…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0.000220...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0.2846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O/O/O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59450044"/>
                  </a:ext>
                </a:extLst>
              </a:tr>
              <a:tr h="552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Mersenne Twister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0.5952…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>
                          <a:effectLst/>
                        </a:rPr>
                        <a:t>0.00183…</a:t>
                      </a:r>
                      <a:endParaRPr 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>
                          <a:effectLst/>
                        </a:rPr>
                        <a:t>0.4237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1400" u="none" strike="noStrike" dirty="0" err="1">
                          <a:effectLst/>
                        </a:rPr>
                        <a:t>O</a:t>
                      </a:r>
                      <a:r>
                        <a:rPr lang="ko-KR" sz="1400" u="none" strike="noStrike" dirty="0">
                          <a:effectLst/>
                        </a:rPr>
                        <a:t>/</a:t>
                      </a:r>
                      <a:r>
                        <a:rPr lang="ko-KR" sz="1400" u="none" strike="noStrike" dirty="0" err="1">
                          <a:effectLst/>
                        </a:rPr>
                        <a:t>O</a:t>
                      </a:r>
                      <a:r>
                        <a:rPr lang="ko-KR" sz="1400" u="none" strike="noStrike" dirty="0">
                          <a:effectLst/>
                        </a:rPr>
                        <a:t>/</a:t>
                      </a:r>
                      <a:r>
                        <a:rPr lang="ko-KR" sz="1400" u="none" strike="noStrike" dirty="0" err="1">
                          <a:effectLst/>
                        </a:rPr>
                        <a:t>O</a:t>
                      </a:r>
                      <a:endParaRPr 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9474105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1A3013-9B5B-8A29-DBA7-F6716217E45C}"/>
              </a:ext>
            </a:extLst>
          </p:cNvPr>
          <p:cNvSpPr txBox="1"/>
          <p:nvPr/>
        </p:nvSpPr>
        <p:spPr>
          <a:xfrm>
            <a:off x="7211683" y="856890"/>
            <a:ext cx="4232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P-value: </a:t>
            </a:r>
            <a:r>
              <a:rPr lang="ko-KR" altLang="en-US" sz="1400" dirty="0"/>
              <a:t>표본데이터에서 관측된 통계량만큼 극단적이거나 더 극단적인 결과가 우연히 나타날 확률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536A5-DCE5-2D9B-D262-74282F1F36AC}"/>
              </a:ext>
            </a:extLst>
          </p:cNvPr>
          <p:cNvSpPr txBox="1"/>
          <p:nvPr/>
        </p:nvSpPr>
        <p:spPr>
          <a:xfrm>
            <a:off x="7257691" y="1554192"/>
            <a:ext cx="4295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Corr</a:t>
            </a:r>
            <a:r>
              <a:rPr lang="ko-KR" altLang="en-US" sz="1400" dirty="0"/>
              <a:t>값</a:t>
            </a:r>
            <a:r>
              <a:rPr lang="en-US" altLang="ko-KR" sz="1400" dirty="0"/>
              <a:t>: </a:t>
            </a:r>
            <a:r>
              <a:rPr lang="ko-KR" altLang="en-US" sz="1400" dirty="0"/>
              <a:t>연속된 값 사이의 선형적 상관관계를 측정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06D79-3C1E-C868-D3BF-7D2B2CD60D94}"/>
              </a:ext>
            </a:extLst>
          </p:cNvPr>
          <p:cNvSpPr txBox="1"/>
          <p:nvPr/>
        </p:nvSpPr>
        <p:spPr>
          <a:xfrm>
            <a:off x="7257692" y="2036051"/>
            <a:ext cx="46007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Run test: </a:t>
            </a:r>
            <a:r>
              <a:rPr lang="ko-KR" altLang="en-US" sz="1400" dirty="0"/>
              <a:t>데이터가 </a:t>
            </a:r>
            <a:r>
              <a:rPr lang="ko-KR" altLang="en-US" sz="1400" dirty="0" err="1"/>
              <a:t>기준값보다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큰구간과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작은구간의</a:t>
            </a:r>
            <a:r>
              <a:rPr lang="ko-KR" altLang="en-US" sz="1400" dirty="0"/>
              <a:t> 연속</a:t>
            </a:r>
            <a:r>
              <a:rPr lang="en-US" altLang="ko-KR" sz="1400" dirty="0"/>
              <a:t> </a:t>
            </a:r>
            <a:r>
              <a:rPr lang="ko-KR" altLang="en-US" sz="1400" dirty="0"/>
              <a:t>묶음의 총개수가 이론적 </a:t>
            </a:r>
            <a:r>
              <a:rPr lang="ko-KR" altLang="en-US" sz="1400" dirty="0" err="1"/>
              <a:t>기대값으로부터</a:t>
            </a:r>
            <a:r>
              <a:rPr lang="ko-KR" altLang="en-US" sz="1400" dirty="0"/>
              <a:t> 표준편차의 </a:t>
            </a:r>
            <a:r>
              <a:rPr lang="ko-KR" altLang="en-US" sz="1400" dirty="0" err="1"/>
              <a:t>몇배만큼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떨어져있는지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F0947-7660-40D8-94D4-0FF03DF9D91B}"/>
              </a:ext>
            </a:extLst>
          </p:cNvPr>
          <p:cNvSpPr txBox="1"/>
          <p:nvPr/>
        </p:nvSpPr>
        <p:spPr>
          <a:xfrm>
            <a:off x="5618672" y="3223710"/>
            <a:ext cx="56646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Bad LCG</a:t>
            </a:r>
            <a:r>
              <a:rPr lang="ko-KR" altLang="en-US" sz="1400" dirty="0"/>
              <a:t>는 대부분의 테스트에서 통과하지 못했지만 유일하게 </a:t>
            </a:r>
            <a:r>
              <a:rPr lang="en-US" altLang="ko-KR" sz="1400" dirty="0"/>
              <a:t>p-value</a:t>
            </a:r>
            <a:r>
              <a:rPr lang="ko-KR" altLang="en-US" sz="1400" dirty="0"/>
              <a:t>에서 </a:t>
            </a:r>
            <a:r>
              <a:rPr lang="en-US" altLang="ko-KR" sz="1400" dirty="0"/>
              <a:t>0.5</a:t>
            </a:r>
            <a:r>
              <a:rPr lang="ko-KR" altLang="en-US" sz="1400" dirty="0"/>
              <a:t>를 </a:t>
            </a:r>
            <a:r>
              <a:rPr lang="en-US" altLang="ko-KR" sz="1400" dirty="0"/>
              <a:t>1</a:t>
            </a:r>
            <a:r>
              <a:rPr lang="ko-KR" altLang="en-US" sz="1400" dirty="0"/>
              <a:t>로 포함시켰을 경우 </a:t>
            </a:r>
            <a:r>
              <a:rPr lang="ko-KR" altLang="en-US" sz="1400" dirty="0" err="1"/>
              <a:t>매우큰</a:t>
            </a:r>
            <a:r>
              <a:rPr lang="ko-KR" altLang="en-US" sz="1400" dirty="0"/>
              <a:t> </a:t>
            </a:r>
            <a:r>
              <a:rPr lang="en-US" altLang="ko-KR" sz="1400" dirty="0"/>
              <a:t>p-value</a:t>
            </a:r>
            <a:r>
              <a:rPr lang="ko-KR" altLang="en-US" sz="1400" dirty="0"/>
              <a:t>를 가지게 되었다</a:t>
            </a:r>
            <a:r>
              <a:rPr lang="en-US" altLang="ko-KR" sz="1400" dirty="0"/>
              <a:t>. </a:t>
            </a:r>
            <a:r>
              <a:rPr lang="ko-KR" altLang="en-US" sz="1400" dirty="0"/>
              <a:t>통계적 </a:t>
            </a:r>
            <a:r>
              <a:rPr lang="en-US" altLang="ko-KR" sz="1400" dirty="0"/>
              <a:t>test</a:t>
            </a:r>
            <a:r>
              <a:rPr lang="ko-KR" altLang="en-US" sz="1400" dirty="0"/>
              <a:t>들은 이러한 </a:t>
            </a:r>
            <a:r>
              <a:rPr lang="ko-KR" altLang="en-US" sz="1400" dirty="0" err="1"/>
              <a:t>작아보이는</a:t>
            </a:r>
            <a:r>
              <a:rPr lang="ko-KR" altLang="en-US" sz="1400" dirty="0"/>
              <a:t> 차이로도 큰 결함을 만들어낼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dirty="0"/>
              <a:t>각 </a:t>
            </a:r>
            <a:r>
              <a:rPr lang="en-US" altLang="ko-KR" sz="1400" dirty="0"/>
              <a:t>test</a:t>
            </a:r>
            <a:r>
              <a:rPr lang="ko-KR" altLang="en-US" sz="1400" dirty="0"/>
              <a:t>들은 </a:t>
            </a:r>
            <a:r>
              <a:rPr lang="ko-KR" altLang="en-US" sz="1400" dirty="0" err="1"/>
              <a:t>난수생성기들이</a:t>
            </a:r>
            <a:r>
              <a:rPr lang="ko-KR" altLang="en-US" sz="1400" dirty="0"/>
              <a:t> 어떤 부분에서 더 뛰어나거나 </a:t>
            </a:r>
            <a:r>
              <a:rPr lang="ko-KR" altLang="en-US" sz="1400" dirty="0" err="1"/>
              <a:t>안좋은지를</a:t>
            </a:r>
            <a:r>
              <a:rPr lang="ko-KR" altLang="en-US" sz="1400" dirty="0"/>
              <a:t> 알려줄 뿐 전체적으로 더 뛰어남을 나타내지는 못한다</a:t>
            </a:r>
            <a:r>
              <a:rPr lang="en-US" altLang="ko-KR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25594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</Words>
  <Application>Microsoft Office PowerPoint</Application>
  <PresentationFormat>와이드스크린</PresentationFormat>
  <Paragraphs>34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1</cp:revision>
  <dcterms:created xsi:type="dcterms:W3CDTF">2026-08-25T05:59:44Z</dcterms:created>
  <dcterms:modified xsi:type="dcterms:W3CDTF">2026-08-25T05:59:49Z</dcterms:modified>
</cp:coreProperties>
</file>